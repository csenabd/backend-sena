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8" r:id="rId4"/>
    <p:sldId id="260" r:id="rId5"/>
    <p:sldId id="265" r:id="rId6"/>
    <p:sldId id="266" r:id="rId7"/>
    <p:sldId id="267" r:id="rId8"/>
    <p:sldId id="268" r:id="rId9"/>
    <p:sldId id="262" r:id="rId10"/>
    <p:sldId id="263" r:id="rId11"/>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7" d="100"/>
          <a:sy n="107" d="100"/>
        </p:scale>
        <p:origin x="173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8" name="Rectangle 7"/>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000" y="3200400"/>
            <a:ext cx="7543800" cy="1524000"/>
          </a:xfrm>
        </p:spPr>
        <p:txBody>
          <a:bodyPr>
            <a:noAutofit/>
          </a:bodyPr>
          <a:lstStyle>
            <a:lvl1pPr>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762000" y="4724400"/>
            <a:ext cx="6858000" cy="990600"/>
          </a:xfrm>
        </p:spPr>
        <p:txBody>
          <a:bodyPr anchor="t" anchorCtr="0">
            <a:normAutofit/>
          </a:bodyPr>
          <a:lstStyle>
            <a:lvl1pPr marL="0" indent="0" algn="l">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57A824A-EA2C-44CC-804D-55F1D9A11FA4}" type="datetimeFigureOut">
              <a:rPr lang="es-ES" smtClean="0"/>
              <a:t>16/09/2024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FBCA948-84C7-4486-9ECC-0A2737E957A4}" type="slidenum">
              <a:rPr lang="es-ES" smtClean="0"/>
              <a:t>‹Nº›</a:t>
            </a:fld>
            <a:endParaRPr lang="es-ES"/>
          </a:p>
        </p:txBody>
      </p:sp>
      <p:sp>
        <p:nvSpPr>
          <p:cNvPr id="7" name="Rectangle 6"/>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57A824A-EA2C-44CC-804D-55F1D9A11FA4}" type="datetimeFigureOut">
              <a:rPr lang="es-ES" smtClean="0"/>
              <a:t>16/09/2024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FBCA948-84C7-4486-9ECC-0A2737E957A4}"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000" y="3276600"/>
            <a:ext cx="7543800" cy="1676400"/>
          </a:xfrm>
        </p:spPr>
        <p:txBody>
          <a:bodyPr anchor="b" anchorCtr="0"/>
          <a:lstStyle>
            <a:lvl1pPr algn="l">
              <a:defRPr sz="54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62000" y="4953000"/>
            <a:ext cx="6858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57A824A-EA2C-44CC-804D-55F1D9A11FA4}" type="datetimeFigureOut">
              <a:rPr lang="es-ES" smtClean="0"/>
              <a:t>16/09/2024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FBCA948-84C7-4486-9ECC-0A2737E957A4}" type="slidenum">
              <a:rPr lang="es-ES" smtClean="0"/>
              <a:t>‹Nº›</a:t>
            </a:fld>
            <a:endParaRPr lang="es-ES"/>
          </a:p>
        </p:txBody>
      </p:sp>
      <p:sp>
        <p:nvSpPr>
          <p:cNvPr id="8" name="Rectangle 7"/>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7620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482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A57A824A-EA2C-44CC-804D-55F1D9A11FA4}" type="datetimeFigureOut">
              <a:rPr lang="es-ES" smtClean="0"/>
              <a:t>16/09/2024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DFBCA948-84C7-4486-9ECC-0A2737E957A4}"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589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7589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451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6451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A57A824A-EA2C-44CC-804D-55F1D9A11FA4}" type="datetimeFigureOut">
              <a:rPr lang="es-ES" smtClean="0"/>
              <a:t>16/09/2024</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DFBCA948-84C7-4486-9ECC-0A2737E957A4}" type="slidenum">
              <a:rPr lang="es-ES" smtClean="0"/>
              <a:t>‹Nº›</a:t>
            </a:fld>
            <a:endParaRPr lang="es-ES"/>
          </a:p>
        </p:txBody>
      </p:sp>
      <p:cxnSp>
        <p:nvCxnSpPr>
          <p:cNvPr id="11" name="Straight Connector 10"/>
          <p:cNvCxnSpPr/>
          <p:nvPr/>
        </p:nvCxnSpPr>
        <p:spPr>
          <a:xfrm>
            <a:off x="7589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6451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57A824A-EA2C-44CC-804D-55F1D9A11FA4}" type="datetimeFigureOut">
              <a:rPr lang="es-ES" smtClean="0"/>
              <a:t>16/09/2024</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DFBCA948-84C7-4486-9ECC-0A2737E957A4}"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A824A-EA2C-44CC-804D-55F1D9A11FA4}" type="datetimeFigureOut">
              <a:rPr lang="es-ES" smtClean="0"/>
              <a:t>16/09/2024</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DFBCA948-84C7-4486-9ECC-0A2737E957A4}"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6784848" cy="1600200"/>
          </a:xfrm>
        </p:spPr>
        <p:txBody>
          <a:bodyPr anchor="b">
            <a:normAutofit/>
          </a:bodyPr>
          <a:lstStyle>
            <a:lvl1pPr algn="l">
              <a:defRPr sz="5400" b="0"/>
            </a:lvl1pPr>
          </a:lstStyle>
          <a:p>
            <a:r>
              <a:rPr lang="es-ES"/>
              <a:t>Haga clic para modificar el estilo de título del patrón</a:t>
            </a:r>
            <a:endParaRPr lang="en-US"/>
          </a:p>
        </p:txBody>
      </p:sp>
      <p:sp>
        <p:nvSpPr>
          <p:cNvPr id="3" name="Content Placeholder 2"/>
          <p:cNvSpPr>
            <a:spLocks noGrp="1"/>
          </p:cNvSpPr>
          <p:nvPr>
            <p:ph idx="1"/>
          </p:nvPr>
        </p:nvSpPr>
        <p:spPr>
          <a:xfrm>
            <a:off x="3710866" y="457200"/>
            <a:ext cx="4594934" cy="41147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62001" y="457200"/>
            <a:ext cx="2673657" cy="4114800"/>
          </a:xfrm>
        </p:spPr>
        <p:txBody>
          <a:bodyPr>
            <a:normAutofit/>
          </a:bodyPr>
          <a:lstStyle>
            <a:lvl1pPr marL="0" indent="0">
              <a:buNone/>
              <a:defRPr sz="21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A57A824A-EA2C-44CC-804D-55F1D9A11FA4}" type="datetimeFigureOut">
              <a:rPr lang="es-ES" smtClean="0"/>
              <a:t>16/09/2024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DFBCA948-84C7-4486-9ECC-0A2737E957A4}" type="slidenum">
              <a:rPr lang="es-ES" smtClean="0"/>
              <a:t>‹Nº›</a:t>
            </a:fld>
            <a:endParaRPr lang="es-ES"/>
          </a:p>
        </p:txBody>
      </p:sp>
      <p:cxnSp>
        <p:nvCxnSpPr>
          <p:cNvPr id="10" name="Straight Connector 9"/>
          <p:cNvCxnSpPr/>
          <p:nvPr/>
        </p:nvCxnSpPr>
        <p:spPr>
          <a:xfrm rot="5400000">
            <a:off x="1677194" y="2514600"/>
            <a:ext cx="3810000" cy="1588"/>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58952" y="4572000"/>
            <a:ext cx="6784848" cy="1600200"/>
          </a:xfrm>
        </p:spPr>
        <p:txBody>
          <a:bodyPr anchor="b">
            <a:normAutofit/>
          </a:bodyPr>
          <a:lstStyle>
            <a:lvl1pPr algn="l">
              <a:defRPr sz="54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777240" y="457200"/>
            <a:ext cx="7543800" cy="2895600"/>
          </a:xfrm>
          <a:ln w="6350">
            <a:solidFill>
              <a:schemeClr val="tx2"/>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a:p>
        </p:txBody>
      </p:sp>
      <p:sp>
        <p:nvSpPr>
          <p:cNvPr id="4" name="Text Placeholder 3"/>
          <p:cNvSpPr>
            <a:spLocks noGrp="1"/>
          </p:cNvSpPr>
          <p:nvPr>
            <p:ph type="body" sz="half" idx="2"/>
          </p:nvPr>
        </p:nvSpPr>
        <p:spPr>
          <a:xfrm>
            <a:off x="850392" y="3505200"/>
            <a:ext cx="7391400" cy="804862"/>
          </a:xfrm>
        </p:spPr>
        <p:txBody>
          <a:bodyPr anchor="t" anchorCtr="0">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A57A824A-EA2C-44CC-804D-55F1D9A11FA4}" type="datetimeFigureOut">
              <a:rPr lang="es-ES" smtClean="0"/>
              <a:t>16/09/2024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DFBCA948-84C7-4486-9ECC-0A2737E957A4}"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4400" y="685800"/>
            <a:ext cx="7239000" cy="3886200"/>
          </a:xfrm>
        </p:spPr>
        <p:txBody>
          <a:bodyPr vert="eaVert" anchor="t" anchorCtr="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57A824A-EA2C-44CC-804D-55F1D9A11FA4}" type="datetimeFigureOut">
              <a:rPr lang="es-ES" smtClean="0"/>
              <a:t>16/09/2024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FBCA948-84C7-4486-9ECC-0A2737E957A4}"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2000" y="685801"/>
            <a:ext cx="1828800" cy="5410199"/>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90800" y="685801"/>
            <a:ext cx="5715000" cy="4876800"/>
          </a:xfrm>
        </p:spPr>
        <p:txBody>
          <a:bodyPr vert="eaVert" anchor="t" anchorCtr="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57A824A-EA2C-44CC-804D-55F1D9A11FA4}" type="datetimeFigureOut">
              <a:rPr lang="es-ES" smtClean="0"/>
              <a:t>16/09/2024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FBCA948-84C7-4486-9ECC-0A2737E957A4}"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572000"/>
            <a:ext cx="6781800" cy="1600200"/>
          </a:xfrm>
          <a:prstGeom prst="rect">
            <a:avLst/>
          </a:prstGeom>
        </p:spPr>
        <p:txBody>
          <a:bodyPr vert="horz" lIns="91440" tIns="45720" rIns="91440" bIns="45720" rtlCol="0" anchor="b" anchorCtr="0">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762000" y="685800"/>
            <a:ext cx="7543800" cy="3886200"/>
          </a:xfrm>
          <a:prstGeom prst="rect">
            <a:avLst/>
          </a:prstGeom>
        </p:spPr>
        <p:txBody>
          <a:bodyPr vert="horz" lIns="91440" tIns="45720" rIns="91440" bIns="45720" rtlCol="0" anchor="ctr" anchorCtr="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48400" y="6208776"/>
            <a:ext cx="2133600" cy="365125"/>
          </a:xfrm>
          <a:prstGeom prst="rect">
            <a:avLst/>
          </a:prstGeom>
        </p:spPr>
        <p:txBody>
          <a:bodyPr vert="horz" lIns="91440" tIns="45720" rIns="91440" bIns="45720" rtlCol="0" anchor="ctr"/>
          <a:lstStyle>
            <a:lvl1pPr algn="r">
              <a:defRPr sz="1200" b="1">
                <a:solidFill>
                  <a:schemeClr val="tx2">
                    <a:lumMod val="90000"/>
                    <a:lumOff val="10000"/>
                  </a:schemeClr>
                </a:solidFill>
                <a:latin typeface="+mn-lt"/>
              </a:defRPr>
            </a:lvl1pPr>
          </a:lstStyle>
          <a:p>
            <a:fld id="{A57A824A-EA2C-44CC-804D-55F1D9A11FA4}" type="datetimeFigureOut">
              <a:rPr lang="es-ES" smtClean="0"/>
              <a:t>16/09/2024</a:t>
            </a:fld>
            <a:endParaRPr lang="es-ES"/>
          </a:p>
        </p:txBody>
      </p:sp>
      <p:sp>
        <p:nvSpPr>
          <p:cNvPr id="5" name="Footer Placeholder 4"/>
          <p:cNvSpPr>
            <a:spLocks noGrp="1"/>
          </p:cNvSpPr>
          <p:nvPr>
            <p:ph type="ftr" sz="quarter" idx="3"/>
          </p:nvPr>
        </p:nvSpPr>
        <p:spPr>
          <a:xfrm>
            <a:off x="761999" y="6208776"/>
            <a:ext cx="4873869" cy="365125"/>
          </a:xfrm>
          <a:prstGeom prst="rect">
            <a:avLst/>
          </a:prstGeom>
        </p:spPr>
        <p:txBody>
          <a:bodyPr vert="horz" lIns="91440" tIns="45720" rIns="91440" bIns="45720" rtlCol="0" anchor="ctr"/>
          <a:lstStyle>
            <a:lvl1pPr algn="l">
              <a:defRPr sz="1200" b="1">
                <a:solidFill>
                  <a:schemeClr val="tx2">
                    <a:lumMod val="90000"/>
                    <a:lumOff val="10000"/>
                  </a:schemeClr>
                </a:solidFill>
              </a:defRPr>
            </a:lvl1pPr>
          </a:lstStyle>
          <a:p>
            <a:endParaRPr lang="es-ES"/>
          </a:p>
        </p:txBody>
      </p:sp>
      <p:sp>
        <p:nvSpPr>
          <p:cNvPr id="6" name="Slide Number Placeholder 5"/>
          <p:cNvSpPr>
            <a:spLocks noGrp="1"/>
          </p:cNvSpPr>
          <p:nvPr>
            <p:ph type="sldNum" sz="quarter" idx="4"/>
          </p:nvPr>
        </p:nvSpPr>
        <p:spPr>
          <a:xfrm>
            <a:off x="7620000" y="5687568"/>
            <a:ext cx="762000" cy="365125"/>
          </a:xfrm>
          <a:prstGeom prst="rect">
            <a:avLst/>
          </a:prstGeom>
        </p:spPr>
        <p:txBody>
          <a:bodyPr vert="horz" lIns="91440" tIns="45720" rIns="91440" bIns="45720" rtlCol="0" anchor="ctr"/>
          <a:lstStyle>
            <a:lvl1pPr algn="r">
              <a:defRPr sz="2400">
                <a:solidFill>
                  <a:schemeClr val="tx1">
                    <a:lumMod val="85000"/>
                    <a:lumOff val="15000"/>
                  </a:schemeClr>
                </a:solidFill>
                <a:latin typeface="+mj-lt"/>
              </a:defRPr>
            </a:lvl1pPr>
          </a:lstStyle>
          <a:p>
            <a:fld id="{DFBCA948-84C7-4486-9ECC-0A2737E957A4}" type="slidenum">
              <a:rPr lang="es-ES" smtClean="0"/>
              <a:t>‹Nº›</a:t>
            </a:fld>
            <a:endParaRPr lang="es-ES"/>
          </a:p>
        </p:txBody>
      </p:sp>
      <p:sp>
        <p:nvSpPr>
          <p:cNvPr id="8" name="Rectangle 7"/>
          <p:cNvSpPr/>
          <p:nvPr/>
        </p:nvSpPr>
        <p:spPr>
          <a:xfrm>
            <a:off x="777240" y="0"/>
            <a:ext cx="7543800"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b="1" dirty="0"/>
              <a:t>Sensor de seguridad industrial</a:t>
            </a:r>
            <a:endParaRPr lang="es-ES" dirty="0"/>
          </a:p>
        </p:txBody>
      </p:sp>
      <p:sp>
        <p:nvSpPr>
          <p:cNvPr id="3" name="2 Subtítulo"/>
          <p:cNvSpPr>
            <a:spLocks noGrp="1"/>
          </p:cNvSpPr>
          <p:nvPr>
            <p:ph type="subTitle" idx="1"/>
          </p:nvPr>
        </p:nvSpPr>
        <p:spPr/>
        <p:txBody>
          <a:bodyPr/>
          <a:lstStyle/>
          <a:p>
            <a:endParaRPr lang="es-ES"/>
          </a:p>
        </p:txBody>
      </p:sp>
    </p:spTree>
    <p:extLst>
      <p:ext uri="{BB962C8B-B14F-4D97-AF65-F5344CB8AC3E}">
        <p14:creationId xmlns:p14="http://schemas.microsoft.com/office/powerpoint/2010/main" val="605674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181100" y="2628900"/>
            <a:ext cx="6781800" cy="1600200"/>
          </a:xfrm>
        </p:spPr>
        <p:txBody>
          <a:bodyPr>
            <a:normAutofit fontScale="90000"/>
          </a:bodyPr>
          <a:lstStyle/>
          <a:p>
            <a:r>
              <a:rPr lang="es-CO" sz="3600" dirty="0"/>
              <a:t>Samuel Jaramillo </a:t>
            </a:r>
            <a:br>
              <a:rPr lang="es-CO" sz="3600" dirty="0"/>
            </a:br>
            <a:r>
              <a:rPr lang="es-CO" sz="3600" dirty="0"/>
              <a:t>Andrés Felipe Medina</a:t>
            </a:r>
            <a:br>
              <a:rPr lang="es-CO" sz="3600" dirty="0"/>
            </a:br>
            <a:r>
              <a:rPr lang="es-CO" sz="3600" dirty="0"/>
              <a:t>Nicolas González</a:t>
            </a:r>
            <a:br>
              <a:rPr lang="es-CO" sz="3600" dirty="0"/>
            </a:br>
            <a:r>
              <a:rPr lang="es-CO" sz="3600" dirty="0"/>
              <a:t>Juan Diego Ospina </a:t>
            </a:r>
            <a:br>
              <a:rPr lang="es-CO" sz="3600" dirty="0"/>
            </a:br>
            <a:endParaRPr lang="es-ES" sz="3600" dirty="0"/>
          </a:p>
        </p:txBody>
      </p:sp>
    </p:spTree>
    <p:extLst>
      <p:ext uri="{BB962C8B-B14F-4D97-AF65-F5344CB8AC3E}">
        <p14:creationId xmlns:p14="http://schemas.microsoft.com/office/powerpoint/2010/main" val="2310114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404664"/>
            <a:ext cx="6781800" cy="1600200"/>
          </a:xfrm>
        </p:spPr>
        <p:txBody>
          <a:bodyPr/>
          <a:lstStyle/>
          <a:p>
            <a:r>
              <a:rPr lang="es-ES" b="1" dirty="0">
                <a:latin typeface="Times New Roman" panose="02020603050405020304" pitchFamily="18" charset="0"/>
                <a:cs typeface="Times New Roman" panose="02020603050405020304" pitchFamily="18" charset="0"/>
              </a:rPr>
              <a:t>Introducción</a:t>
            </a:r>
            <a:endParaRPr lang="es-ES"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683568" y="2060848"/>
            <a:ext cx="7543800" cy="3886200"/>
          </a:xfrm>
        </p:spPr>
        <p:txBody>
          <a:bodyPr>
            <a:normAutofit lnSpcReduction="10000"/>
          </a:bodyPr>
          <a:lstStyle/>
          <a:p>
            <a:pPr marL="0" indent="0">
              <a:buNone/>
            </a:pPr>
            <a:r>
              <a:rPr lang="es-ES" sz="2800" dirty="0">
                <a:solidFill>
                  <a:schemeClr val="tx1"/>
                </a:solidFill>
                <a:latin typeface="Times New Roman"/>
                <a:cs typeface="Times New Roman"/>
              </a:rPr>
              <a:t>El presente proyecto propone el desarrollo de un  sensor de seguridad industrial capaz de detectar múltiples parámetros críticos en entornos industriales. Este dispositivo integrado permitirá monitorear en tiempo real niveles de humedad, temperatura, humo, presencia de electricidad estática y movimiento, proporcionando una alerta temprana ante posibles riesgos y contribuyendo a la prevención de accidentes y pérdidas económicas.</a:t>
            </a:r>
          </a:p>
        </p:txBody>
      </p:sp>
    </p:spTree>
    <p:extLst>
      <p:ext uri="{BB962C8B-B14F-4D97-AF65-F5344CB8AC3E}">
        <p14:creationId xmlns:p14="http://schemas.microsoft.com/office/powerpoint/2010/main" val="394553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548680"/>
            <a:ext cx="6781800" cy="1600200"/>
          </a:xfrm>
        </p:spPr>
        <p:txBody>
          <a:bodyPr>
            <a:normAutofit fontScale="90000"/>
          </a:bodyPr>
          <a:lstStyle/>
          <a:p>
            <a:r>
              <a:rPr lang="es-ES" dirty="0"/>
              <a:t>Planteamiento de problema</a:t>
            </a:r>
          </a:p>
        </p:txBody>
      </p:sp>
      <p:sp>
        <p:nvSpPr>
          <p:cNvPr id="3" name="2 Marcador de contenido"/>
          <p:cNvSpPr>
            <a:spLocks noGrp="1"/>
          </p:cNvSpPr>
          <p:nvPr>
            <p:ph idx="1"/>
          </p:nvPr>
        </p:nvSpPr>
        <p:spPr>
          <a:xfrm>
            <a:off x="755576" y="2204864"/>
            <a:ext cx="7543800" cy="1008112"/>
          </a:xfrm>
        </p:spPr>
        <p:txBody>
          <a:bodyPr>
            <a:normAutofit/>
          </a:bodyPr>
          <a:lstStyle/>
          <a:p>
            <a:pPr marL="0" indent="0">
              <a:buNone/>
            </a:pPr>
            <a:r>
              <a:rPr lang="es-ES" dirty="0">
                <a:solidFill>
                  <a:schemeClr val="tx1"/>
                </a:solidFill>
              </a:rPr>
              <a:t>Problemática: ¿Cómo podemos reducir la frecuencia y la gravedad de los accidentes en el área industrial?. </a:t>
            </a:r>
          </a:p>
          <a:p>
            <a:pPr marL="0" indent="0">
              <a:buNone/>
            </a:pPr>
            <a:endParaRPr lang="es-ES" dirty="0">
              <a:solidFill>
                <a:schemeClr val="tx1"/>
              </a:solidFill>
            </a:endParaRPr>
          </a:p>
        </p:txBody>
      </p:sp>
      <p:pic>
        <p:nvPicPr>
          <p:cNvPr id="2052" name="Picture 4">
            <a:extLst>
              <a:ext uri="{FF2B5EF4-FFF2-40B4-BE49-F238E27FC236}">
                <a16:creationId xmlns:a16="http://schemas.microsoft.com/office/drawing/2014/main" id="{DFF65A79-D0E4-DE06-8ECC-15A7CE4701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3429000"/>
            <a:ext cx="4464495" cy="2448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45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B93A134-A84B-80CB-91AB-E9A941B938B7}"/>
              </a:ext>
            </a:extLst>
          </p:cNvPr>
          <p:cNvSpPr>
            <a:spLocks noGrp="1"/>
          </p:cNvSpPr>
          <p:nvPr>
            <p:ph idx="1"/>
          </p:nvPr>
        </p:nvSpPr>
        <p:spPr/>
        <p:txBody>
          <a:bodyPr/>
          <a:lstStyle/>
          <a:p>
            <a:r>
              <a:rPr lang="es-ES" b="1" dirty="0">
                <a:solidFill>
                  <a:schemeClr val="tx1"/>
                </a:solidFill>
              </a:rPr>
              <a:t>Objetivo específico 1: </a:t>
            </a:r>
            <a:r>
              <a:rPr lang="es-ES" dirty="0"/>
              <a:t>Investigar los materiales y componentes para el desarrollar el prototipo.</a:t>
            </a:r>
          </a:p>
          <a:p>
            <a:r>
              <a:rPr lang="es-ES" dirty="0"/>
              <a:t>Actividades:"A1.1 Recolectar información de diferentes artículos .</a:t>
            </a:r>
          </a:p>
          <a:p>
            <a:r>
              <a:rPr lang="es-ES" dirty="0"/>
              <a:t> A1.2 Determinar las especificaciones de materiales y componentes.</a:t>
            </a:r>
          </a:p>
          <a:p>
            <a:r>
              <a:rPr lang="es-ES" dirty="0"/>
              <a:t>  A1.3Utilizar información de un sistema de refrigeración"	</a:t>
            </a:r>
          </a:p>
        </p:txBody>
      </p:sp>
      <p:pic>
        <p:nvPicPr>
          <p:cNvPr id="6146" name="Picture 2" descr="Componenti Attivi e Passivi, componenti elettronici">
            <a:extLst>
              <a:ext uri="{FF2B5EF4-FFF2-40B4-BE49-F238E27FC236}">
                <a16:creationId xmlns:a16="http://schemas.microsoft.com/office/drawing/2014/main" id="{AD353519-11AE-FEA2-42ED-A9A8FBD8A5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4365104"/>
            <a:ext cx="3528392"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608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97AFD6D-6321-1763-06CF-3A49486B6855}"/>
              </a:ext>
            </a:extLst>
          </p:cNvPr>
          <p:cNvSpPr>
            <a:spLocks noGrp="1"/>
          </p:cNvSpPr>
          <p:nvPr>
            <p:ph idx="1"/>
          </p:nvPr>
        </p:nvSpPr>
        <p:spPr>
          <a:xfrm>
            <a:off x="899592" y="56656"/>
            <a:ext cx="7543800" cy="3886200"/>
          </a:xfrm>
        </p:spPr>
        <p:txBody>
          <a:bodyPr/>
          <a:lstStyle/>
          <a:p>
            <a:r>
              <a:rPr lang="es-ES" b="1" dirty="0">
                <a:solidFill>
                  <a:schemeClr val="tx1"/>
                </a:solidFill>
              </a:rPr>
              <a:t>Objetivo específico 2</a:t>
            </a:r>
            <a:r>
              <a:rPr lang="es-ES" dirty="0"/>
              <a:t>:Explorar las industrias para la implementación del sensor.</a:t>
            </a:r>
          </a:p>
          <a:p>
            <a:r>
              <a:rPr lang="es-ES" dirty="0"/>
              <a:t>Actividades:"A2.1 Centrarnos en una industria electrodomésticas.</a:t>
            </a:r>
          </a:p>
          <a:p>
            <a:r>
              <a:rPr lang="es-ES" dirty="0"/>
              <a:t> A2.2 Verificar los procesos industriales de esta"</a:t>
            </a:r>
          </a:p>
        </p:txBody>
      </p:sp>
      <p:pic>
        <p:nvPicPr>
          <p:cNvPr id="7170" name="Picture 2" descr="Operador en la industria el arte de la gestión de sistemas de alta  tecnología explorar el papel de los operadores en el nuevo | Imagen Premium  generada con IA">
            <a:extLst>
              <a:ext uri="{FF2B5EF4-FFF2-40B4-BE49-F238E27FC236}">
                <a16:creationId xmlns:a16="http://schemas.microsoft.com/office/drawing/2014/main" id="{08787216-D2F2-0194-8047-815EF5562E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3284984"/>
            <a:ext cx="4176464" cy="2338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030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58CB147-8C45-5A3C-FEDF-D4B1E9BBCFB1}"/>
              </a:ext>
            </a:extLst>
          </p:cNvPr>
          <p:cNvSpPr>
            <a:spLocks noGrp="1"/>
          </p:cNvSpPr>
          <p:nvPr>
            <p:ph idx="1"/>
          </p:nvPr>
        </p:nvSpPr>
        <p:spPr/>
        <p:txBody>
          <a:bodyPr/>
          <a:lstStyle/>
          <a:p>
            <a:r>
              <a:rPr lang="es-ES" b="1" dirty="0">
                <a:solidFill>
                  <a:schemeClr val="tx1"/>
                </a:solidFill>
              </a:rPr>
              <a:t>Objetivo específico 3: </a:t>
            </a:r>
            <a:r>
              <a:rPr lang="es-ES" dirty="0"/>
              <a:t>Diseñar un sensor que cumpla las especificaciones de las industrias.</a:t>
            </a:r>
          </a:p>
          <a:p>
            <a:r>
              <a:rPr lang="es-ES" dirty="0"/>
              <a:t>Actividades: "A3.1 Implementar los materiales requeridos para el diseño.</a:t>
            </a:r>
          </a:p>
          <a:p>
            <a:r>
              <a:rPr lang="es-ES" dirty="0"/>
              <a:t>  A3.2 Instalar los componentes necesarios para el sensor.</a:t>
            </a:r>
          </a:p>
          <a:p>
            <a:r>
              <a:rPr lang="es-ES" dirty="0"/>
              <a:t>  A3.3 Ejecutar un sistema de refrigeración para evitar el sobrecalentamiento"</a:t>
            </a:r>
          </a:p>
        </p:txBody>
      </p:sp>
      <p:pic>
        <p:nvPicPr>
          <p:cNvPr id="8194" name="Picture 2" descr="Icono de sensor de movimiento dibujado a mano ilustración vectorial |  Vector Premium">
            <a:extLst>
              <a:ext uri="{FF2B5EF4-FFF2-40B4-BE49-F238E27FC236}">
                <a16:creationId xmlns:a16="http://schemas.microsoft.com/office/drawing/2014/main" id="{3ED4BA53-E0D0-BF8E-B735-E76B0C96F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840" y="4149080"/>
            <a:ext cx="2431157" cy="1797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5143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2C47713-18CB-4BEE-A831-F1EBE5385C2A}"/>
              </a:ext>
            </a:extLst>
          </p:cNvPr>
          <p:cNvSpPr>
            <a:spLocks noGrp="1"/>
          </p:cNvSpPr>
          <p:nvPr>
            <p:ph idx="1"/>
          </p:nvPr>
        </p:nvSpPr>
        <p:spPr>
          <a:xfrm>
            <a:off x="800099" y="188640"/>
            <a:ext cx="7543800" cy="3886200"/>
          </a:xfrm>
        </p:spPr>
        <p:txBody>
          <a:bodyPr/>
          <a:lstStyle/>
          <a:p>
            <a:r>
              <a:rPr lang="es-ES" b="1" dirty="0">
                <a:solidFill>
                  <a:schemeClr val="tx1"/>
                </a:solidFill>
              </a:rPr>
              <a:t>Objetivo específico 4:</a:t>
            </a:r>
            <a:r>
              <a:rPr lang="es-ES" dirty="0"/>
              <a:t> Evaluar el funcionamiento del prototipo para revisar su factibilidad</a:t>
            </a:r>
          </a:p>
          <a:p>
            <a:r>
              <a:rPr lang="es-ES" dirty="0"/>
              <a:t>A4.1 Examinar que los sensores de electricidad y gas funcionen .</a:t>
            </a:r>
          </a:p>
          <a:p>
            <a:r>
              <a:rPr lang="es-ES" dirty="0"/>
              <a:t>A4.2Supervisar que lo sensores de humedad y temperatura estén en buen funcionamiento"</a:t>
            </a:r>
          </a:p>
        </p:txBody>
      </p:sp>
      <p:pic>
        <p:nvPicPr>
          <p:cNvPr id="9218" name="Picture 2" descr="Vectores e ilustraciones de Evaluar dibujo para descargar gratis | Freepik">
            <a:extLst>
              <a:ext uri="{FF2B5EF4-FFF2-40B4-BE49-F238E27FC236}">
                <a16:creationId xmlns:a16="http://schemas.microsoft.com/office/drawing/2014/main" id="{F5E680F8-9229-77CB-E8E6-91F56C8993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5716" y="3284984"/>
            <a:ext cx="5112568" cy="2718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574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548680"/>
            <a:ext cx="6781800" cy="1600200"/>
          </a:xfrm>
        </p:spPr>
        <p:txBody>
          <a:bodyPr/>
          <a:lstStyle/>
          <a:p>
            <a:r>
              <a:rPr lang="es-ES" dirty="0"/>
              <a:t>Objetivo general</a:t>
            </a:r>
          </a:p>
        </p:txBody>
      </p:sp>
      <p:sp>
        <p:nvSpPr>
          <p:cNvPr id="3" name="2 Marcador de contenido"/>
          <p:cNvSpPr>
            <a:spLocks noGrp="1"/>
          </p:cNvSpPr>
          <p:nvPr>
            <p:ph idx="1"/>
          </p:nvPr>
        </p:nvSpPr>
        <p:spPr>
          <a:xfrm>
            <a:off x="611560" y="872133"/>
            <a:ext cx="7543800" cy="3886200"/>
          </a:xfrm>
        </p:spPr>
        <p:txBody>
          <a:bodyPr/>
          <a:lstStyle/>
          <a:p>
            <a:r>
              <a:rPr lang="es-ES" b="1" dirty="0"/>
              <a:t>Desarrollar un sistema de monitoreo anti riesgos para la seguridad del personal de una industria electrodoméstica </a:t>
            </a:r>
            <a:endParaRPr lang="es-ES" dirty="0"/>
          </a:p>
        </p:txBody>
      </p:sp>
      <p:pic>
        <p:nvPicPr>
          <p:cNvPr id="10242" name="Picture 2" descr="Desarrollo de Sistemas Embebidos en la Era de la Electrónica Avanzada –  MICROCHIPOTLE">
            <a:extLst>
              <a:ext uri="{FF2B5EF4-FFF2-40B4-BE49-F238E27FC236}">
                <a16:creationId xmlns:a16="http://schemas.microsoft.com/office/drawing/2014/main" id="{34A9652C-CAD8-9CEB-33A7-37382FF1D2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6379" y="3487748"/>
            <a:ext cx="4071242" cy="2442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980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66384" y="459288"/>
            <a:ext cx="6781800" cy="1600200"/>
          </a:xfrm>
        </p:spPr>
        <p:txBody>
          <a:bodyPr/>
          <a:lstStyle/>
          <a:p>
            <a:pPr algn="just"/>
            <a:r>
              <a:rPr lang="es-ES" dirty="0"/>
              <a:t>        Justificación </a:t>
            </a:r>
          </a:p>
        </p:txBody>
      </p:sp>
      <p:sp>
        <p:nvSpPr>
          <p:cNvPr id="3" name="2 Marcador de contenido"/>
          <p:cNvSpPr>
            <a:spLocks noGrp="1"/>
          </p:cNvSpPr>
          <p:nvPr>
            <p:ph idx="1"/>
          </p:nvPr>
        </p:nvSpPr>
        <p:spPr>
          <a:xfrm>
            <a:off x="866384" y="2086219"/>
            <a:ext cx="7543800" cy="3886200"/>
          </a:xfrm>
        </p:spPr>
        <p:txBody>
          <a:bodyPr>
            <a:normAutofit/>
          </a:bodyPr>
          <a:lstStyle/>
          <a:p>
            <a:pPr>
              <a:buNone/>
            </a:pPr>
            <a:r>
              <a:rPr lang="es-ES" dirty="0">
                <a:ea typeface="+mn-lt"/>
                <a:cs typeface="+mn-lt"/>
              </a:rPr>
              <a:t>En conjunto esta tecnología mejora la seguridad, reduce</a:t>
            </a:r>
          </a:p>
          <a:p>
            <a:pPr>
              <a:buNone/>
            </a:pPr>
            <a:r>
              <a:rPr lang="es-ES" dirty="0">
                <a:ea typeface="+mn-lt"/>
                <a:cs typeface="+mn-lt"/>
              </a:rPr>
              <a:t> costos operativos y fomenta una cultura de prevención y</a:t>
            </a:r>
          </a:p>
          <a:p>
            <a:pPr>
              <a:buNone/>
            </a:pPr>
            <a:r>
              <a:rPr lang="es-ES" dirty="0">
                <a:ea typeface="+mn-lt"/>
                <a:cs typeface="+mn-lt"/>
              </a:rPr>
              <a:t> responsabilidad en el entorno industrial.</a:t>
            </a:r>
          </a:p>
          <a:p>
            <a:pPr>
              <a:buNone/>
            </a:pPr>
            <a:endParaRPr lang="es-ES" dirty="0">
              <a:ea typeface="+mn-lt"/>
              <a:cs typeface="+mn-lt"/>
            </a:endParaRPr>
          </a:p>
          <a:p>
            <a:pPr>
              <a:buNone/>
            </a:pPr>
            <a:endParaRPr lang="es-ES" dirty="0">
              <a:ea typeface="+mn-lt"/>
              <a:cs typeface="+mn-lt"/>
            </a:endParaRPr>
          </a:p>
          <a:p>
            <a:pPr>
              <a:buNone/>
            </a:pPr>
            <a:endParaRPr lang="es-ES" dirty="0">
              <a:ea typeface="+mn-lt"/>
              <a:cs typeface="+mn-lt"/>
            </a:endParaRPr>
          </a:p>
          <a:p>
            <a:pPr>
              <a:buNone/>
            </a:pPr>
            <a:endParaRPr lang="es-ES" dirty="0">
              <a:ea typeface="+mn-lt"/>
              <a:cs typeface="+mn-lt"/>
            </a:endParaRPr>
          </a:p>
          <a:p>
            <a:pPr>
              <a:buNone/>
            </a:pPr>
            <a:endParaRPr lang="es-ES" dirty="0"/>
          </a:p>
          <a:p>
            <a:pPr marL="0" indent="0">
              <a:buNone/>
            </a:pPr>
            <a:endParaRPr lang="es-ES" dirty="0">
              <a:cs typeface="Times New Roman"/>
            </a:endParaRPr>
          </a:p>
        </p:txBody>
      </p:sp>
      <p:pic>
        <p:nvPicPr>
          <p:cNvPr id="5124" name="Picture 4" descr="Memosens: tecnología de sensores de última generación | Endress+Hauser">
            <a:extLst>
              <a:ext uri="{FF2B5EF4-FFF2-40B4-BE49-F238E27FC236}">
                <a16:creationId xmlns:a16="http://schemas.microsoft.com/office/drawing/2014/main" id="{B405EF7B-A7F1-6843-766E-9CB9FF9491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1300" y="3463244"/>
            <a:ext cx="4391967" cy="2472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77287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251</TotalTime>
  <Words>311</Words>
  <Application>Microsoft Office PowerPoint</Application>
  <PresentationFormat>Presentación en pantalla (4:3)</PresentationFormat>
  <Paragraphs>30</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Impact</vt:lpstr>
      <vt:lpstr>Times New Roman</vt:lpstr>
      <vt:lpstr>NewsPrint</vt:lpstr>
      <vt:lpstr>Sensor de seguridad industrial</vt:lpstr>
      <vt:lpstr>Samuel Jaramillo  Andrés Felipe Medina Nicolas González Juan Diego Ospina  </vt:lpstr>
      <vt:lpstr>Introducción</vt:lpstr>
      <vt:lpstr>Planteamiento de problema</vt:lpstr>
      <vt:lpstr>Presentación de PowerPoint</vt:lpstr>
      <vt:lpstr>Presentación de PowerPoint</vt:lpstr>
      <vt:lpstr>Presentación de PowerPoint</vt:lpstr>
      <vt:lpstr>Presentación de PowerPoint</vt:lpstr>
      <vt:lpstr>Objetivo general</vt:lpstr>
      <vt:lpstr>        Justificación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Sensor de seguridad industrial</dc:title>
  <dc:creator>FAMILIA</dc:creator>
  <cp:lastModifiedBy>SENA</cp:lastModifiedBy>
  <cp:revision>38</cp:revision>
  <dcterms:created xsi:type="dcterms:W3CDTF">2024-09-15T02:36:33Z</dcterms:created>
  <dcterms:modified xsi:type="dcterms:W3CDTF">2024-09-16T16:30:57Z</dcterms:modified>
</cp:coreProperties>
</file>